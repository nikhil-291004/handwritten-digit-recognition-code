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3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375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121EA1-1D30-43A4-B2DF-F8CF2C1D17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43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https://projectgurukul.org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https://user-images.githubusercontent.com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https://i.pinimg.com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https://www.examtopics.com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https://uploads-ssl.webflow.com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https://user-images.githubusercontent.com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2A857-D7E3-DC03-D28F-545837238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7E397-FF83-08BA-5F4E-460944D11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8E5D6-8138-A1B1-88EE-7DA7C6221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5671-A0B9-4A91-B028-F0F7FA367DD1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1D3B9-D4C2-3124-5633-201A30AC4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88F93-BDF0-5BB2-DEE9-B3B190477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179D1-0E02-42C9-8D01-533B06C3D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03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A9C51-CED2-4810-4238-597505075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49477"/>
            <a:ext cx="7886700" cy="3263504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Emerging Technology (SB)</a:t>
            </a:r>
          </a:p>
          <a:p>
            <a:pPr marL="0" indent="0" algn="ctr">
              <a:buNone/>
            </a:pP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 B.Tech –I Semester</a:t>
            </a:r>
          </a:p>
          <a:p>
            <a:pPr marL="0" indent="0" algn="ctr">
              <a:buNone/>
            </a:pPr>
            <a:r>
              <a:rPr lang="en-US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LABORATORY</a:t>
            </a:r>
          </a:p>
          <a:p>
            <a:pPr marL="0" indent="0" algn="just">
              <a:buNone/>
            </a:pPr>
            <a:r>
              <a:rPr lang="en-US" sz="27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Subject/Course Code:22PCOAM18</a:t>
            </a:r>
          </a:p>
          <a:p>
            <a:pPr marL="0" indent="0" algn="just">
              <a:buNone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 M.GAYATRI DEVI(22WJ8A6637)</a:t>
            </a:r>
          </a:p>
          <a:p>
            <a:pPr marL="0" indent="0" algn="just">
              <a:buNone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M.BHAVANI(22WJ8A6638)</a:t>
            </a:r>
          </a:p>
          <a:p>
            <a:pPr marL="0" indent="0" algn="just">
              <a:buNone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M.SAI KIRAN(22WJ8A6639)</a:t>
            </a:r>
          </a:p>
          <a:p>
            <a:pPr marL="0" indent="0" algn="just">
              <a:buNone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M.NIKHIL REDDY(22WJ8A6640)</a:t>
            </a:r>
          </a:p>
          <a:p>
            <a:pPr marL="0" indent="0" algn="just">
              <a:buNone/>
            </a:pP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Topic:HANDWRITTEN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 PREDICTION</a:t>
            </a:r>
          </a:p>
          <a:p>
            <a:pPr marL="0" indent="0" algn="just">
              <a:buNone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Class/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</a:t>
            </a:r>
            <a:r>
              <a:rPr lang="en-US" sz="2700" err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AIML-1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688FAD-FA48-5A48-FE78-BCA9153BA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29" y="82114"/>
            <a:ext cx="737765" cy="737765"/>
          </a:xfrm>
          <a:prstGeom prst="rect">
            <a:avLst/>
          </a:prstGeom>
        </p:spPr>
      </p:pic>
      <p:grpSp>
        <p:nvGrpSpPr>
          <p:cNvPr id="5" name="object 4">
            <a:extLst>
              <a:ext uri="{FF2B5EF4-FFF2-40B4-BE49-F238E27FC236}">
                <a16:creationId xmlns:a16="http://schemas.microsoft.com/office/drawing/2014/main" id="{6976B991-C6B2-7949-A482-462637518D8A}"/>
              </a:ext>
            </a:extLst>
          </p:cNvPr>
          <p:cNvGrpSpPr/>
          <p:nvPr/>
        </p:nvGrpSpPr>
        <p:grpSpPr>
          <a:xfrm>
            <a:off x="1017413" y="110669"/>
            <a:ext cx="7610475" cy="579120"/>
            <a:chOff x="1593850" y="51435"/>
            <a:chExt cx="10147300" cy="77216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2C25E9C3-2AD5-0F1F-CA8F-B6EEA9E753BA}"/>
                </a:ext>
              </a:extLst>
            </p:cNvPr>
            <p:cNvSpPr/>
            <p:nvPr/>
          </p:nvSpPr>
          <p:spPr>
            <a:xfrm>
              <a:off x="1600200" y="57721"/>
              <a:ext cx="10134600" cy="759460"/>
            </a:xfrm>
            <a:custGeom>
              <a:avLst/>
              <a:gdLst/>
              <a:ahLst/>
              <a:cxnLst/>
              <a:rect l="l" t="t" r="r" b="b"/>
              <a:pathLst>
                <a:path w="10134600" h="759460">
                  <a:moveTo>
                    <a:pt x="10134600" y="0"/>
                  </a:moveTo>
                  <a:lnTo>
                    <a:pt x="0" y="0"/>
                  </a:lnTo>
                  <a:lnTo>
                    <a:pt x="0" y="759269"/>
                  </a:lnTo>
                  <a:lnTo>
                    <a:pt x="10134600" y="759269"/>
                  </a:lnTo>
                  <a:lnTo>
                    <a:pt x="1013460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778E5E0C-67C1-95EB-10F9-458E340A13D5}"/>
                </a:ext>
              </a:extLst>
            </p:cNvPr>
            <p:cNvSpPr/>
            <p:nvPr/>
          </p:nvSpPr>
          <p:spPr>
            <a:xfrm>
              <a:off x="1600200" y="51435"/>
              <a:ext cx="10134600" cy="772160"/>
            </a:xfrm>
            <a:custGeom>
              <a:avLst/>
              <a:gdLst/>
              <a:ahLst/>
              <a:cxnLst/>
              <a:rect l="l" t="t" r="r" b="b"/>
              <a:pathLst>
                <a:path w="10134600" h="772160">
                  <a:moveTo>
                    <a:pt x="0" y="0"/>
                  </a:moveTo>
                  <a:lnTo>
                    <a:pt x="0" y="771906"/>
                  </a:lnTo>
                </a:path>
                <a:path w="10134600" h="772160">
                  <a:moveTo>
                    <a:pt x="10134600" y="0"/>
                  </a:moveTo>
                  <a:lnTo>
                    <a:pt x="10134600" y="77190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CAF170D0-FEDB-C656-1ECE-82F92A10C945}"/>
                </a:ext>
              </a:extLst>
            </p:cNvPr>
            <p:cNvSpPr/>
            <p:nvPr/>
          </p:nvSpPr>
          <p:spPr>
            <a:xfrm>
              <a:off x="1593850" y="51435"/>
              <a:ext cx="10147300" cy="12700"/>
            </a:xfrm>
            <a:custGeom>
              <a:avLst/>
              <a:gdLst/>
              <a:ahLst/>
              <a:cxnLst/>
              <a:rect l="l" t="t" r="r" b="b"/>
              <a:pathLst>
                <a:path w="10147300" h="12700">
                  <a:moveTo>
                    <a:pt x="0" y="12700"/>
                  </a:moveTo>
                  <a:lnTo>
                    <a:pt x="10147300" y="12700"/>
                  </a:lnTo>
                  <a:lnTo>
                    <a:pt x="1014730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84AF903F-1AA6-4237-8517-BF482B229D58}"/>
                </a:ext>
              </a:extLst>
            </p:cNvPr>
            <p:cNvSpPr/>
            <p:nvPr/>
          </p:nvSpPr>
          <p:spPr>
            <a:xfrm>
              <a:off x="1593850" y="816990"/>
              <a:ext cx="10147300" cy="0"/>
            </a:xfrm>
            <a:custGeom>
              <a:avLst/>
              <a:gdLst/>
              <a:ahLst/>
              <a:cxnLst/>
              <a:rect l="l" t="t" r="r" b="b"/>
              <a:pathLst>
                <a:path w="10147300">
                  <a:moveTo>
                    <a:pt x="0" y="0"/>
                  </a:moveTo>
                  <a:lnTo>
                    <a:pt x="10147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722C3DB7-7AAA-3932-A1E9-D4D8C3E7A77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3127" y="200405"/>
              <a:ext cx="8503920" cy="231267"/>
            </a:xfrm>
            <a:prstGeom prst="rect">
              <a:avLst/>
            </a:prstGeom>
          </p:spPr>
        </p:pic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B1485689-CA99-566A-D06D-4B664A7F060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85057" y="505333"/>
              <a:ext cx="1073277" cy="184404"/>
            </a:xfrm>
            <a:prstGeom prst="rect">
              <a:avLst/>
            </a:prstGeom>
          </p:spPr>
        </p:pic>
        <p:pic>
          <p:nvPicPr>
            <p:cNvPr id="12" name="object 11">
              <a:extLst>
                <a:ext uri="{FF2B5EF4-FFF2-40B4-BE49-F238E27FC236}">
                  <a16:creationId xmlns:a16="http://schemas.microsoft.com/office/drawing/2014/main" id="{25866D7D-E959-2028-821D-2367A89FD94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30978" y="505205"/>
              <a:ext cx="4427982" cy="1845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59576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16111" y="740129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Introduction to Handwritten Digit Recognition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617458" y="1727239"/>
            <a:ext cx="759690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Handwritten digit recognition is a common task in machine learning and computer vision.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It involves identifying digits from images of handwritten text.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This project aims to use machine learning algorithms to automate this process.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4">
            <a:extLst>
              <a:ext uri="{FF2B5EF4-FFF2-40B4-BE49-F238E27FC236}">
                <a16:creationId xmlns:a16="http://schemas.microsoft.com/office/drawing/2014/main" id="{69B00AAD-4705-7647-2FF2-3F0038569511}"/>
              </a:ext>
            </a:extLst>
          </p:cNvPr>
          <p:cNvGrpSpPr/>
          <p:nvPr/>
        </p:nvGrpSpPr>
        <p:grpSpPr>
          <a:xfrm>
            <a:off x="1017413" y="110669"/>
            <a:ext cx="7610475" cy="579120"/>
            <a:chOff x="1593850" y="51435"/>
            <a:chExt cx="10147300" cy="77216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60644D20-F1C1-6FC4-D5B7-3B918F0FCF71}"/>
                </a:ext>
              </a:extLst>
            </p:cNvPr>
            <p:cNvSpPr/>
            <p:nvPr/>
          </p:nvSpPr>
          <p:spPr>
            <a:xfrm>
              <a:off x="1600200" y="57721"/>
              <a:ext cx="10134600" cy="759460"/>
            </a:xfrm>
            <a:custGeom>
              <a:avLst/>
              <a:gdLst/>
              <a:ahLst/>
              <a:cxnLst/>
              <a:rect l="l" t="t" r="r" b="b"/>
              <a:pathLst>
                <a:path w="10134600" h="759460">
                  <a:moveTo>
                    <a:pt x="10134600" y="0"/>
                  </a:moveTo>
                  <a:lnTo>
                    <a:pt x="0" y="0"/>
                  </a:lnTo>
                  <a:lnTo>
                    <a:pt x="0" y="759269"/>
                  </a:lnTo>
                  <a:lnTo>
                    <a:pt x="10134600" y="759269"/>
                  </a:lnTo>
                  <a:lnTo>
                    <a:pt x="1013460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88F615E6-B255-C011-61FF-71AAC45A9985}"/>
                </a:ext>
              </a:extLst>
            </p:cNvPr>
            <p:cNvSpPr/>
            <p:nvPr/>
          </p:nvSpPr>
          <p:spPr>
            <a:xfrm>
              <a:off x="1600200" y="51435"/>
              <a:ext cx="10134600" cy="772160"/>
            </a:xfrm>
            <a:custGeom>
              <a:avLst/>
              <a:gdLst/>
              <a:ahLst/>
              <a:cxnLst/>
              <a:rect l="l" t="t" r="r" b="b"/>
              <a:pathLst>
                <a:path w="10134600" h="772160">
                  <a:moveTo>
                    <a:pt x="0" y="0"/>
                  </a:moveTo>
                  <a:lnTo>
                    <a:pt x="0" y="771906"/>
                  </a:lnTo>
                </a:path>
                <a:path w="10134600" h="772160">
                  <a:moveTo>
                    <a:pt x="10134600" y="0"/>
                  </a:moveTo>
                  <a:lnTo>
                    <a:pt x="10134600" y="77190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3D840549-323B-F55A-585B-82C580C34D65}"/>
                </a:ext>
              </a:extLst>
            </p:cNvPr>
            <p:cNvSpPr/>
            <p:nvPr/>
          </p:nvSpPr>
          <p:spPr>
            <a:xfrm>
              <a:off x="1593850" y="51435"/>
              <a:ext cx="10147300" cy="12700"/>
            </a:xfrm>
            <a:custGeom>
              <a:avLst/>
              <a:gdLst/>
              <a:ahLst/>
              <a:cxnLst/>
              <a:rect l="l" t="t" r="r" b="b"/>
              <a:pathLst>
                <a:path w="10147300" h="12700">
                  <a:moveTo>
                    <a:pt x="0" y="12700"/>
                  </a:moveTo>
                  <a:lnTo>
                    <a:pt x="10147300" y="12700"/>
                  </a:lnTo>
                  <a:lnTo>
                    <a:pt x="1014730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BF1B016B-92EB-40B1-402E-EDD4495680D2}"/>
                </a:ext>
              </a:extLst>
            </p:cNvPr>
            <p:cNvSpPr/>
            <p:nvPr/>
          </p:nvSpPr>
          <p:spPr>
            <a:xfrm>
              <a:off x="1593850" y="816990"/>
              <a:ext cx="10147300" cy="0"/>
            </a:xfrm>
            <a:custGeom>
              <a:avLst/>
              <a:gdLst/>
              <a:ahLst/>
              <a:cxnLst/>
              <a:rect l="l" t="t" r="r" b="b"/>
              <a:pathLst>
                <a:path w="10147300">
                  <a:moveTo>
                    <a:pt x="0" y="0"/>
                  </a:moveTo>
                  <a:lnTo>
                    <a:pt x="10147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20AB5BCE-FF93-205B-7059-D3B8A9FA3C9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3127" y="200405"/>
              <a:ext cx="8503920" cy="231267"/>
            </a:xfrm>
            <a:prstGeom prst="rect">
              <a:avLst/>
            </a:prstGeom>
          </p:spPr>
        </p:pic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D5043CEA-9914-91A3-2063-F5CB78C6E0C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85057" y="505333"/>
              <a:ext cx="1073277" cy="184404"/>
            </a:xfrm>
            <a:prstGeom prst="rect">
              <a:avLst/>
            </a:prstGeom>
          </p:spPr>
        </p:pic>
        <p:pic>
          <p:nvPicPr>
            <p:cNvPr id="12" name="object 11">
              <a:extLst>
                <a:ext uri="{FF2B5EF4-FFF2-40B4-BE49-F238E27FC236}">
                  <a16:creationId xmlns:a16="http://schemas.microsoft.com/office/drawing/2014/main" id="{A308BB1B-9190-06B7-F9DA-FC1089FB989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0978" y="505205"/>
              <a:ext cx="4427982" cy="184531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286B2B32-072C-F6D9-8F86-8DDBEA74AB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229" y="82114"/>
            <a:ext cx="737765" cy="7377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789399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Problem Statement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516110" y="1711969"/>
            <a:ext cx="800304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The recognition of handwritten digits can be challenging due to variations in writing styles.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Traditional methods may not achieve high accuracy levels in digit recognition.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This project seeks to address these challenges using machine learning techniques.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object 4">
            <a:extLst>
              <a:ext uri="{FF2B5EF4-FFF2-40B4-BE49-F238E27FC236}">
                <a16:creationId xmlns:a16="http://schemas.microsoft.com/office/drawing/2014/main" id="{2E549209-DFDD-6919-73ED-78BBDE3EAEF2}"/>
              </a:ext>
            </a:extLst>
          </p:cNvPr>
          <p:cNvGrpSpPr/>
          <p:nvPr/>
        </p:nvGrpSpPr>
        <p:grpSpPr>
          <a:xfrm>
            <a:off x="1017413" y="110669"/>
            <a:ext cx="7610475" cy="579120"/>
            <a:chOff x="1593850" y="51435"/>
            <a:chExt cx="10147300" cy="772160"/>
          </a:xfrm>
        </p:grpSpPr>
        <p:sp>
          <p:nvSpPr>
            <p:cNvPr id="3" name="object 5">
              <a:extLst>
                <a:ext uri="{FF2B5EF4-FFF2-40B4-BE49-F238E27FC236}">
                  <a16:creationId xmlns:a16="http://schemas.microsoft.com/office/drawing/2014/main" id="{C22C2584-3E8C-B890-8584-7245EEA0847E}"/>
                </a:ext>
              </a:extLst>
            </p:cNvPr>
            <p:cNvSpPr/>
            <p:nvPr/>
          </p:nvSpPr>
          <p:spPr>
            <a:xfrm>
              <a:off x="1600200" y="57721"/>
              <a:ext cx="10134600" cy="759460"/>
            </a:xfrm>
            <a:custGeom>
              <a:avLst/>
              <a:gdLst/>
              <a:ahLst/>
              <a:cxnLst/>
              <a:rect l="l" t="t" r="r" b="b"/>
              <a:pathLst>
                <a:path w="10134600" h="759460">
                  <a:moveTo>
                    <a:pt x="10134600" y="0"/>
                  </a:moveTo>
                  <a:lnTo>
                    <a:pt x="0" y="0"/>
                  </a:lnTo>
                  <a:lnTo>
                    <a:pt x="0" y="759269"/>
                  </a:lnTo>
                  <a:lnTo>
                    <a:pt x="10134600" y="759269"/>
                  </a:lnTo>
                  <a:lnTo>
                    <a:pt x="1013460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648BB5D-83F3-BFAC-0EF6-56A84FE7D995}"/>
                </a:ext>
              </a:extLst>
            </p:cNvPr>
            <p:cNvSpPr/>
            <p:nvPr/>
          </p:nvSpPr>
          <p:spPr>
            <a:xfrm>
              <a:off x="1600200" y="51435"/>
              <a:ext cx="10134600" cy="772160"/>
            </a:xfrm>
            <a:custGeom>
              <a:avLst/>
              <a:gdLst/>
              <a:ahLst/>
              <a:cxnLst/>
              <a:rect l="l" t="t" r="r" b="b"/>
              <a:pathLst>
                <a:path w="10134600" h="772160">
                  <a:moveTo>
                    <a:pt x="0" y="0"/>
                  </a:moveTo>
                  <a:lnTo>
                    <a:pt x="0" y="771906"/>
                  </a:lnTo>
                </a:path>
                <a:path w="10134600" h="772160">
                  <a:moveTo>
                    <a:pt x="10134600" y="0"/>
                  </a:moveTo>
                  <a:lnTo>
                    <a:pt x="10134600" y="77190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7ACD73EE-6EA6-EFF8-0D29-1A0629225763}"/>
                </a:ext>
              </a:extLst>
            </p:cNvPr>
            <p:cNvSpPr/>
            <p:nvPr/>
          </p:nvSpPr>
          <p:spPr>
            <a:xfrm>
              <a:off x="1593850" y="51435"/>
              <a:ext cx="10147300" cy="12700"/>
            </a:xfrm>
            <a:custGeom>
              <a:avLst/>
              <a:gdLst/>
              <a:ahLst/>
              <a:cxnLst/>
              <a:rect l="l" t="t" r="r" b="b"/>
              <a:pathLst>
                <a:path w="10147300" h="12700">
                  <a:moveTo>
                    <a:pt x="0" y="12700"/>
                  </a:moveTo>
                  <a:lnTo>
                    <a:pt x="10147300" y="12700"/>
                  </a:lnTo>
                  <a:lnTo>
                    <a:pt x="1014730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0C3D9DA3-6AB4-8B30-3068-5EDF96A4FE5B}"/>
                </a:ext>
              </a:extLst>
            </p:cNvPr>
            <p:cNvSpPr/>
            <p:nvPr/>
          </p:nvSpPr>
          <p:spPr>
            <a:xfrm>
              <a:off x="1593850" y="816990"/>
              <a:ext cx="10147300" cy="0"/>
            </a:xfrm>
            <a:custGeom>
              <a:avLst/>
              <a:gdLst/>
              <a:ahLst/>
              <a:cxnLst/>
              <a:rect l="l" t="t" r="r" b="b"/>
              <a:pathLst>
                <a:path w="10147300">
                  <a:moveTo>
                    <a:pt x="0" y="0"/>
                  </a:moveTo>
                  <a:lnTo>
                    <a:pt x="10147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244532AB-4653-BF65-F963-42C1DBF7427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3127" y="200405"/>
              <a:ext cx="8503920" cy="231267"/>
            </a:xfrm>
            <a:prstGeom prst="rect">
              <a:avLst/>
            </a:prstGeom>
          </p:spPr>
        </p:pic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44CADE4E-D437-A59E-2829-07FF145E800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85057" y="505333"/>
              <a:ext cx="1073277" cy="184404"/>
            </a:xfrm>
            <a:prstGeom prst="rect">
              <a:avLst/>
            </a:prstGeom>
          </p:spPr>
        </p:pic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C1C2D475-CB69-C959-7103-1A8B5014343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0978" y="505205"/>
              <a:ext cx="4427982" cy="184531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923A377-9AEC-281A-1593-195F3C48FA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229" y="82114"/>
            <a:ext cx="737765" cy="7377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user-images.githubusercontent.com/77389040/243426795-c0c5ba70-79b1-4c33-9783-9c2ca60333e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340" y="1822145"/>
            <a:ext cx="3389811" cy="2636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16111" y="779835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Dataset Overview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709046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The MNIST dataset is commonly used for handwritten digit recognition.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It contains 70,000 images of handwritten digits, with each image being 28x28 pixels.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The dataset is split into training and testing sets for model evaluation.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4">
            <a:extLst>
              <a:ext uri="{FF2B5EF4-FFF2-40B4-BE49-F238E27FC236}">
                <a16:creationId xmlns:a16="http://schemas.microsoft.com/office/drawing/2014/main" id="{965DD89F-AA23-F908-E275-E4717A7D1BA2}"/>
              </a:ext>
            </a:extLst>
          </p:cNvPr>
          <p:cNvGrpSpPr/>
          <p:nvPr/>
        </p:nvGrpSpPr>
        <p:grpSpPr>
          <a:xfrm>
            <a:off x="1017413" y="110669"/>
            <a:ext cx="7610475" cy="579120"/>
            <a:chOff x="1593850" y="51435"/>
            <a:chExt cx="10147300" cy="77216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85AEEA3A-C1FA-7563-349A-48FF74EF32DB}"/>
                </a:ext>
              </a:extLst>
            </p:cNvPr>
            <p:cNvSpPr/>
            <p:nvPr/>
          </p:nvSpPr>
          <p:spPr>
            <a:xfrm>
              <a:off x="1600200" y="57721"/>
              <a:ext cx="10134600" cy="759460"/>
            </a:xfrm>
            <a:custGeom>
              <a:avLst/>
              <a:gdLst/>
              <a:ahLst/>
              <a:cxnLst/>
              <a:rect l="l" t="t" r="r" b="b"/>
              <a:pathLst>
                <a:path w="10134600" h="759460">
                  <a:moveTo>
                    <a:pt x="10134600" y="0"/>
                  </a:moveTo>
                  <a:lnTo>
                    <a:pt x="0" y="0"/>
                  </a:lnTo>
                  <a:lnTo>
                    <a:pt x="0" y="759269"/>
                  </a:lnTo>
                  <a:lnTo>
                    <a:pt x="10134600" y="759269"/>
                  </a:lnTo>
                  <a:lnTo>
                    <a:pt x="1013460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5CF2F0E5-A75F-81AC-49AF-E25B97FD601A}"/>
                </a:ext>
              </a:extLst>
            </p:cNvPr>
            <p:cNvSpPr/>
            <p:nvPr/>
          </p:nvSpPr>
          <p:spPr>
            <a:xfrm>
              <a:off x="1600200" y="51435"/>
              <a:ext cx="10134600" cy="772160"/>
            </a:xfrm>
            <a:custGeom>
              <a:avLst/>
              <a:gdLst/>
              <a:ahLst/>
              <a:cxnLst/>
              <a:rect l="l" t="t" r="r" b="b"/>
              <a:pathLst>
                <a:path w="10134600" h="772160">
                  <a:moveTo>
                    <a:pt x="0" y="0"/>
                  </a:moveTo>
                  <a:lnTo>
                    <a:pt x="0" y="771906"/>
                  </a:lnTo>
                </a:path>
                <a:path w="10134600" h="772160">
                  <a:moveTo>
                    <a:pt x="10134600" y="0"/>
                  </a:moveTo>
                  <a:lnTo>
                    <a:pt x="10134600" y="77190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B35054A3-98E4-69F8-7AC9-EF2DBD17B788}"/>
                </a:ext>
              </a:extLst>
            </p:cNvPr>
            <p:cNvSpPr/>
            <p:nvPr/>
          </p:nvSpPr>
          <p:spPr>
            <a:xfrm>
              <a:off x="1593850" y="51435"/>
              <a:ext cx="10147300" cy="12700"/>
            </a:xfrm>
            <a:custGeom>
              <a:avLst/>
              <a:gdLst/>
              <a:ahLst/>
              <a:cxnLst/>
              <a:rect l="l" t="t" r="r" b="b"/>
              <a:pathLst>
                <a:path w="10147300" h="12700">
                  <a:moveTo>
                    <a:pt x="0" y="12700"/>
                  </a:moveTo>
                  <a:lnTo>
                    <a:pt x="10147300" y="12700"/>
                  </a:lnTo>
                  <a:lnTo>
                    <a:pt x="1014730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EF8E71DB-8836-46BA-8758-ECAA44ADB9D0}"/>
                </a:ext>
              </a:extLst>
            </p:cNvPr>
            <p:cNvSpPr/>
            <p:nvPr/>
          </p:nvSpPr>
          <p:spPr>
            <a:xfrm>
              <a:off x="1593850" y="816990"/>
              <a:ext cx="10147300" cy="0"/>
            </a:xfrm>
            <a:custGeom>
              <a:avLst/>
              <a:gdLst/>
              <a:ahLst/>
              <a:cxnLst/>
              <a:rect l="l" t="t" r="r" b="b"/>
              <a:pathLst>
                <a:path w="10147300">
                  <a:moveTo>
                    <a:pt x="0" y="0"/>
                  </a:moveTo>
                  <a:lnTo>
                    <a:pt x="10147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35A307FF-0A7A-01DF-04BD-04915FC3CAE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3127" y="200405"/>
              <a:ext cx="8503920" cy="231267"/>
            </a:xfrm>
            <a:prstGeom prst="rect">
              <a:avLst/>
            </a:prstGeom>
          </p:spPr>
        </p:pic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CBD3E989-E7DA-A803-A2A9-CFAA81C9C07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85057" y="505333"/>
              <a:ext cx="1073277" cy="184404"/>
            </a:xfrm>
            <a:prstGeom prst="rect">
              <a:avLst/>
            </a:prstGeom>
          </p:spPr>
        </p:pic>
        <p:pic>
          <p:nvPicPr>
            <p:cNvPr id="12" name="object 11">
              <a:extLst>
                <a:ext uri="{FF2B5EF4-FFF2-40B4-BE49-F238E27FC236}">
                  <a16:creationId xmlns:a16="http://schemas.microsoft.com/office/drawing/2014/main" id="{BF8AF6F8-B821-EE0A-A7E1-4B1F7844384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30978" y="505205"/>
              <a:ext cx="4427982" cy="184531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22265E0E-5228-3512-8CE8-7E4E95C46B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229" y="82114"/>
            <a:ext cx="737765" cy="7377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16111" y="804639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Data Preprocessing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516110" y="1820096"/>
            <a:ext cx="822959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Preprocessing is essential for preparing the images for machine learning models.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Steps include normalization, resizing, and converting images to grayscale.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Data augmentation techniques can also be applied to improve model robustness.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object 4">
            <a:extLst>
              <a:ext uri="{FF2B5EF4-FFF2-40B4-BE49-F238E27FC236}">
                <a16:creationId xmlns:a16="http://schemas.microsoft.com/office/drawing/2014/main" id="{E863FCC5-0647-B4FB-117B-DE3D3B14FC29}"/>
              </a:ext>
            </a:extLst>
          </p:cNvPr>
          <p:cNvGrpSpPr/>
          <p:nvPr/>
        </p:nvGrpSpPr>
        <p:grpSpPr>
          <a:xfrm>
            <a:off x="1017413" y="110669"/>
            <a:ext cx="7610475" cy="579120"/>
            <a:chOff x="1593850" y="51435"/>
            <a:chExt cx="10147300" cy="772160"/>
          </a:xfrm>
        </p:grpSpPr>
        <p:sp>
          <p:nvSpPr>
            <p:cNvPr id="3" name="object 5">
              <a:extLst>
                <a:ext uri="{FF2B5EF4-FFF2-40B4-BE49-F238E27FC236}">
                  <a16:creationId xmlns:a16="http://schemas.microsoft.com/office/drawing/2014/main" id="{451B28A7-9E89-F064-46C3-A2719380EFE3}"/>
                </a:ext>
              </a:extLst>
            </p:cNvPr>
            <p:cNvSpPr/>
            <p:nvPr/>
          </p:nvSpPr>
          <p:spPr>
            <a:xfrm>
              <a:off x="1600200" y="57721"/>
              <a:ext cx="10134600" cy="759460"/>
            </a:xfrm>
            <a:custGeom>
              <a:avLst/>
              <a:gdLst/>
              <a:ahLst/>
              <a:cxnLst/>
              <a:rect l="l" t="t" r="r" b="b"/>
              <a:pathLst>
                <a:path w="10134600" h="759460">
                  <a:moveTo>
                    <a:pt x="10134600" y="0"/>
                  </a:moveTo>
                  <a:lnTo>
                    <a:pt x="0" y="0"/>
                  </a:lnTo>
                  <a:lnTo>
                    <a:pt x="0" y="759269"/>
                  </a:lnTo>
                  <a:lnTo>
                    <a:pt x="10134600" y="759269"/>
                  </a:lnTo>
                  <a:lnTo>
                    <a:pt x="1013460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CFA63B7-E138-F12B-B4F0-14A3546EBC18}"/>
                </a:ext>
              </a:extLst>
            </p:cNvPr>
            <p:cNvSpPr/>
            <p:nvPr/>
          </p:nvSpPr>
          <p:spPr>
            <a:xfrm>
              <a:off x="1600200" y="51435"/>
              <a:ext cx="10134600" cy="772160"/>
            </a:xfrm>
            <a:custGeom>
              <a:avLst/>
              <a:gdLst/>
              <a:ahLst/>
              <a:cxnLst/>
              <a:rect l="l" t="t" r="r" b="b"/>
              <a:pathLst>
                <a:path w="10134600" h="772160">
                  <a:moveTo>
                    <a:pt x="0" y="0"/>
                  </a:moveTo>
                  <a:lnTo>
                    <a:pt x="0" y="771906"/>
                  </a:lnTo>
                </a:path>
                <a:path w="10134600" h="772160">
                  <a:moveTo>
                    <a:pt x="10134600" y="0"/>
                  </a:moveTo>
                  <a:lnTo>
                    <a:pt x="10134600" y="77190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AA629CCE-7513-E144-0B1C-3954F81A8515}"/>
                </a:ext>
              </a:extLst>
            </p:cNvPr>
            <p:cNvSpPr/>
            <p:nvPr/>
          </p:nvSpPr>
          <p:spPr>
            <a:xfrm>
              <a:off x="1593850" y="51435"/>
              <a:ext cx="10147300" cy="12700"/>
            </a:xfrm>
            <a:custGeom>
              <a:avLst/>
              <a:gdLst/>
              <a:ahLst/>
              <a:cxnLst/>
              <a:rect l="l" t="t" r="r" b="b"/>
              <a:pathLst>
                <a:path w="10147300" h="12700">
                  <a:moveTo>
                    <a:pt x="0" y="12700"/>
                  </a:moveTo>
                  <a:lnTo>
                    <a:pt x="10147300" y="12700"/>
                  </a:lnTo>
                  <a:lnTo>
                    <a:pt x="1014730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B1E93FE4-94CA-91EE-7E40-E6948616D42C}"/>
                </a:ext>
              </a:extLst>
            </p:cNvPr>
            <p:cNvSpPr/>
            <p:nvPr/>
          </p:nvSpPr>
          <p:spPr>
            <a:xfrm>
              <a:off x="1593850" y="816990"/>
              <a:ext cx="10147300" cy="0"/>
            </a:xfrm>
            <a:custGeom>
              <a:avLst/>
              <a:gdLst/>
              <a:ahLst/>
              <a:cxnLst/>
              <a:rect l="l" t="t" r="r" b="b"/>
              <a:pathLst>
                <a:path w="10147300">
                  <a:moveTo>
                    <a:pt x="0" y="0"/>
                  </a:moveTo>
                  <a:lnTo>
                    <a:pt x="10147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C5455EBF-F4D9-0044-025A-A0FE6E9CBF1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3127" y="200405"/>
              <a:ext cx="8503920" cy="231267"/>
            </a:xfrm>
            <a:prstGeom prst="rect">
              <a:avLst/>
            </a:prstGeom>
          </p:spPr>
        </p:pic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4441FA3A-EE51-F41F-EA81-03014687F9B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85057" y="505333"/>
              <a:ext cx="1073277" cy="184404"/>
            </a:xfrm>
            <a:prstGeom prst="rect">
              <a:avLst/>
            </a:prstGeom>
          </p:spPr>
        </p:pic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FD22A128-A495-05DD-1457-443BCC36E37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0978" y="505205"/>
              <a:ext cx="4427982" cy="184531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115E5D0E-F0BC-3444-C9EF-AD140A21BA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229" y="82114"/>
            <a:ext cx="737765" cy="7377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.pinimg.com/736x/64/27/8e/64278e10186f1152e6c0287bbebd915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253" y="1507795"/>
            <a:ext cx="3477986" cy="2705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86237" y="7696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Machine Learning Algorithms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86237" y="1712118"/>
            <a:ext cx="469101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Various machine learning algorithms can be used for digit recognition.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Common choices include Convolutional Neural Networks (CNNs) and Support Vector Machines (SVMs).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Each algorithm has its strengths, impacting accuracy and training time.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4">
            <a:extLst>
              <a:ext uri="{FF2B5EF4-FFF2-40B4-BE49-F238E27FC236}">
                <a16:creationId xmlns:a16="http://schemas.microsoft.com/office/drawing/2014/main" id="{B66F773B-55B8-26A1-B3CC-6B2EEB4C1040}"/>
              </a:ext>
            </a:extLst>
          </p:cNvPr>
          <p:cNvGrpSpPr/>
          <p:nvPr/>
        </p:nvGrpSpPr>
        <p:grpSpPr>
          <a:xfrm>
            <a:off x="1017413" y="110669"/>
            <a:ext cx="7610475" cy="579120"/>
            <a:chOff x="1593850" y="51435"/>
            <a:chExt cx="10147300" cy="77216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41E2A6CB-2708-AEAE-72C3-FBDDC9E7E8C3}"/>
                </a:ext>
              </a:extLst>
            </p:cNvPr>
            <p:cNvSpPr/>
            <p:nvPr/>
          </p:nvSpPr>
          <p:spPr>
            <a:xfrm>
              <a:off x="1600200" y="57721"/>
              <a:ext cx="10134600" cy="759460"/>
            </a:xfrm>
            <a:custGeom>
              <a:avLst/>
              <a:gdLst/>
              <a:ahLst/>
              <a:cxnLst/>
              <a:rect l="l" t="t" r="r" b="b"/>
              <a:pathLst>
                <a:path w="10134600" h="759460">
                  <a:moveTo>
                    <a:pt x="10134600" y="0"/>
                  </a:moveTo>
                  <a:lnTo>
                    <a:pt x="0" y="0"/>
                  </a:lnTo>
                  <a:lnTo>
                    <a:pt x="0" y="759269"/>
                  </a:lnTo>
                  <a:lnTo>
                    <a:pt x="10134600" y="759269"/>
                  </a:lnTo>
                  <a:lnTo>
                    <a:pt x="1013460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E5904278-87AB-D6E3-E3B9-65C55E3F652A}"/>
                </a:ext>
              </a:extLst>
            </p:cNvPr>
            <p:cNvSpPr/>
            <p:nvPr/>
          </p:nvSpPr>
          <p:spPr>
            <a:xfrm>
              <a:off x="1600200" y="51435"/>
              <a:ext cx="10134600" cy="772160"/>
            </a:xfrm>
            <a:custGeom>
              <a:avLst/>
              <a:gdLst/>
              <a:ahLst/>
              <a:cxnLst/>
              <a:rect l="l" t="t" r="r" b="b"/>
              <a:pathLst>
                <a:path w="10134600" h="772160">
                  <a:moveTo>
                    <a:pt x="0" y="0"/>
                  </a:moveTo>
                  <a:lnTo>
                    <a:pt x="0" y="771906"/>
                  </a:lnTo>
                </a:path>
                <a:path w="10134600" h="772160">
                  <a:moveTo>
                    <a:pt x="10134600" y="0"/>
                  </a:moveTo>
                  <a:lnTo>
                    <a:pt x="10134600" y="77190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A81759F3-29E5-F99A-9805-9181C2A34932}"/>
                </a:ext>
              </a:extLst>
            </p:cNvPr>
            <p:cNvSpPr/>
            <p:nvPr/>
          </p:nvSpPr>
          <p:spPr>
            <a:xfrm>
              <a:off x="1593850" y="51435"/>
              <a:ext cx="10147300" cy="12700"/>
            </a:xfrm>
            <a:custGeom>
              <a:avLst/>
              <a:gdLst/>
              <a:ahLst/>
              <a:cxnLst/>
              <a:rect l="l" t="t" r="r" b="b"/>
              <a:pathLst>
                <a:path w="10147300" h="12700">
                  <a:moveTo>
                    <a:pt x="0" y="12700"/>
                  </a:moveTo>
                  <a:lnTo>
                    <a:pt x="10147300" y="12700"/>
                  </a:lnTo>
                  <a:lnTo>
                    <a:pt x="1014730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7E07373C-5C32-CD8C-A079-C46B763C121C}"/>
                </a:ext>
              </a:extLst>
            </p:cNvPr>
            <p:cNvSpPr/>
            <p:nvPr/>
          </p:nvSpPr>
          <p:spPr>
            <a:xfrm>
              <a:off x="1593850" y="816990"/>
              <a:ext cx="10147300" cy="0"/>
            </a:xfrm>
            <a:custGeom>
              <a:avLst/>
              <a:gdLst/>
              <a:ahLst/>
              <a:cxnLst/>
              <a:rect l="l" t="t" r="r" b="b"/>
              <a:pathLst>
                <a:path w="10147300">
                  <a:moveTo>
                    <a:pt x="0" y="0"/>
                  </a:moveTo>
                  <a:lnTo>
                    <a:pt x="10147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FD72B3AB-4A56-48B1-AD32-F968873D3BE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3127" y="200405"/>
              <a:ext cx="8503920" cy="231267"/>
            </a:xfrm>
            <a:prstGeom prst="rect">
              <a:avLst/>
            </a:prstGeom>
          </p:spPr>
        </p:pic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69CCCCBC-049F-0D2E-694D-D035828A0C9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85057" y="505333"/>
              <a:ext cx="1073277" cy="184404"/>
            </a:xfrm>
            <a:prstGeom prst="rect">
              <a:avLst/>
            </a:prstGeom>
          </p:spPr>
        </p:pic>
        <p:pic>
          <p:nvPicPr>
            <p:cNvPr id="12" name="object 11">
              <a:extLst>
                <a:ext uri="{FF2B5EF4-FFF2-40B4-BE49-F238E27FC236}">
                  <a16:creationId xmlns:a16="http://schemas.microsoft.com/office/drawing/2014/main" id="{FAAF9A43-3D8C-D6A4-5152-16C076B75AA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30978" y="505205"/>
              <a:ext cx="4427982" cy="184531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71D4F170-F0D9-9A87-88A8-6FBB45DD1C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229" y="82114"/>
            <a:ext cx="737765" cy="7377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examtopics.com/assets/media/exam-media/04274/0023000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206" y="1661160"/>
            <a:ext cx="3448594" cy="2682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16111" y="794597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Model Training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316468" y="1720703"/>
            <a:ext cx="48387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The training process involves feeding the model with labeled data from the training set.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Hyperparameter tuning is crucial to optimize the model's performance.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The model learns to recognize patterns and features within the handwritten digits.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4">
            <a:extLst>
              <a:ext uri="{FF2B5EF4-FFF2-40B4-BE49-F238E27FC236}">
                <a16:creationId xmlns:a16="http://schemas.microsoft.com/office/drawing/2014/main" id="{A4049B25-AF5C-5C22-3759-8631194E6EC7}"/>
              </a:ext>
            </a:extLst>
          </p:cNvPr>
          <p:cNvGrpSpPr/>
          <p:nvPr/>
        </p:nvGrpSpPr>
        <p:grpSpPr>
          <a:xfrm>
            <a:off x="1017413" y="110669"/>
            <a:ext cx="7610475" cy="579120"/>
            <a:chOff x="1593850" y="51435"/>
            <a:chExt cx="10147300" cy="77216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F6D10F3A-A41D-8256-7B42-57190B52195C}"/>
                </a:ext>
              </a:extLst>
            </p:cNvPr>
            <p:cNvSpPr/>
            <p:nvPr/>
          </p:nvSpPr>
          <p:spPr>
            <a:xfrm>
              <a:off x="1600200" y="57721"/>
              <a:ext cx="10134600" cy="759460"/>
            </a:xfrm>
            <a:custGeom>
              <a:avLst/>
              <a:gdLst/>
              <a:ahLst/>
              <a:cxnLst/>
              <a:rect l="l" t="t" r="r" b="b"/>
              <a:pathLst>
                <a:path w="10134600" h="759460">
                  <a:moveTo>
                    <a:pt x="10134600" y="0"/>
                  </a:moveTo>
                  <a:lnTo>
                    <a:pt x="0" y="0"/>
                  </a:lnTo>
                  <a:lnTo>
                    <a:pt x="0" y="759269"/>
                  </a:lnTo>
                  <a:lnTo>
                    <a:pt x="10134600" y="759269"/>
                  </a:lnTo>
                  <a:lnTo>
                    <a:pt x="1013460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3C4FFE0E-7905-E3FC-31BE-F272AA862CBC}"/>
                </a:ext>
              </a:extLst>
            </p:cNvPr>
            <p:cNvSpPr/>
            <p:nvPr/>
          </p:nvSpPr>
          <p:spPr>
            <a:xfrm>
              <a:off x="1600200" y="51435"/>
              <a:ext cx="10134600" cy="772160"/>
            </a:xfrm>
            <a:custGeom>
              <a:avLst/>
              <a:gdLst/>
              <a:ahLst/>
              <a:cxnLst/>
              <a:rect l="l" t="t" r="r" b="b"/>
              <a:pathLst>
                <a:path w="10134600" h="772160">
                  <a:moveTo>
                    <a:pt x="0" y="0"/>
                  </a:moveTo>
                  <a:lnTo>
                    <a:pt x="0" y="771906"/>
                  </a:lnTo>
                </a:path>
                <a:path w="10134600" h="772160">
                  <a:moveTo>
                    <a:pt x="10134600" y="0"/>
                  </a:moveTo>
                  <a:lnTo>
                    <a:pt x="10134600" y="77190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5B0451F5-E356-D6D2-DCCD-5F4469E6C3DF}"/>
                </a:ext>
              </a:extLst>
            </p:cNvPr>
            <p:cNvSpPr/>
            <p:nvPr/>
          </p:nvSpPr>
          <p:spPr>
            <a:xfrm>
              <a:off x="1593850" y="51435"/>
              <a:ext cx="10147300" cy="12700"/>
            </a:xfrm>
            <a:custGeom>
              <a:avLst/>
              <a:gdLst/>
              <a:ahLst/>
              <a:cxnLst/>
              <a:rect l="l" t="t" r="r" b="b"/>
              <a:pathLst>
                <a:path w="10147300" h="12700">
                  <a:moveTo>
                    <a:pt x="0" y="12700"/>
                  </a:moveTo>
                  <a:lnTo>
                    <a:pt x="10147300" y="12700"/>
                  </a:lnTo>
                  <a:lnTo>
                    <a:pt x="1014730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B483937B-0A08-DA9B-7D3A-B31BF5F7ECA0}"/>
                </a:ext>
              </a:extLst>
            </p:cNvPr>
            <p:cNvSpPr/>
            <p:nvPr/>
          </p:nvSpPr>
          <p:spPr>
            <a:xfrm>
              <a:off x="1593850" y="816990"/>
              <a:ext cx="10147300" cy="0"/>
            </a:xfrm>
            <a:custGeom>
              <a:avLst/>
              <a:gdLst/>
              <a:ahLst/>
              <a:cxnLst/>
              <a:rect l="l" t="t" r="r" b="b"/>
              <a:pathLst>
                <a:path w="10147300">
                  <a:moveTo>
                    <a:pt x="0" y="0"/>
                  </a:moveTo>
                  <a:lnTo>
                    <a:pt x="10147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38BE2679-C9CA-4261-3661-CEE161969E7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3127" y="200405"/>
              <a:ext cx="8503920" cy="231267"/>
            </a:xfrm>
            <a:prstGeom prst="rect">
              <a:avLst/>
            </a:prstGeom>
          </p:spPr>
        </p:pic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D154C04A-5D1F-D43B-1EEB-00E31286CAE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85057" y="505333"/>
              <a:ext cx="1073277" cy="184404"/>
            </a:xfrm>
            <a:prstGeom prst="rect">
              <a:avLst/>
            </a:prstGeom>
          </p:spPr>
        </p:pic>
        <p:pic>
          <p:nvPicPr>
            <p:cNvPr id="12" name="object 11">
              <a:extLst>
                <a:ext uri="{FF2B5EF4-FFF2-40B4-BE49-F238E27FC236}">
                  <a16:creationId xmlns:a16="http://schemas.microsoft.com/office/drawing/2014/main" id="{0E479E72-9CFD-1B48-2E6C-F3ECF736AAE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30978" y="505205"/>
              <a:ext cx="4427982" cy="184531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72F289D2-6DCE-ACE9-DD8E-F8438C5469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229" y="82114"/>
            <a:ext cx="737765" cy="7377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uploads-ssl.webflow.com/6266b596eef18c1931f938f9/644af6c4d573412369556f6e_classification_guide_apc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134" y="1744980"/>
            <a:ext cx="3203666" cy="2491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16111" y="780275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Model Evaluation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507795"/>
            <a:ext cx="502593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Evaluation metrics such as accuracy, precision, and recall are used to assess performance.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The model is tested against the unseen test dataset to gauge its effectiveness.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Confusion matrices can help visualize the classification results.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4">
            <a:extLst>
              <a:ext uri="{FF2B5EF4-FFF2-40B4-BE49-F238E27FC236}">
                <a16:creationId xmlns:a16="http://schemas.microsoft.com/office/drawing/2014/main" id="{0FB64FAE-AA60-9F5B-E1AD-E560D15C74A5}"/>
              </a:ext>
            </a:extLst>
          </p:cNvPr>
          <p:cNvGrpSpPr/>
          <p:nvPr/>
        </p:nvGrpSpPr>
        <p:grpSpPr>
          <a:xfrm>
            <a:off x="1017413" y="110669"/>
            <a:ext cx="7610475" cy="579120"/>
            <a:chOff x="1593850" y="51435"/>
            <a:chExt cx="10147300" cy="77216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3E6F9D13-0819-A8A6-7DFF-D1B6763897F6}"/>
                </a:ext>
              </a:extLst>
            </p:cNvPr>
            <p:cNvSpPr/>
            <p:nvPr/>
          </p:nvSpPr>
          <p:spPr>
            <a:xfrm>
              <a:off x="1600200" y="57721"/>
              <a:ext cx="10134600" cy="759460"/>
            </a:xfrm>
            <a:custGeom>
              <a:avLst/>
              <a:gdLst/>
              <a:ahLst/>
              <a:cxnLst/>
              <a:rect l="l" t="t" r="r" b="b"/>
              <a:pathLst>
                <a:path w="10134600" h="759460">
                  <a:moveTo>
                    <a:pt x="10134600" y="0"/>
                  </a:moveTo>
                  <a:lnTo>
                    <a:pt x="0" y="0"/>
                  </a:lnTo>
                  <a:lnTo>
                    <a:pt x="0" y="759269"/>
                  </a:lnTo>
                  <a:lnTo>
                    <a:pt x="10134600" y="759269"/>
                  </a:lnTo>
                  <a:lnTo>
                    <a:pt x="1013460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E4400508-1076-3085-EBEB-3DC98E96C5BA}"/>
                </a:ext>
              </a:extLst>
            </p:cNvPr>
            <p:cNvSpPr/>
            <p:nvPr/>
          </p:nvSpPr>
          <p:spPr>
            <a:xfrm>
              <a:off x="1600200" y="51435"/>
              <a:ext cx="10134600" cy="772160"/>
            </a:xfrm>
            <a:custGeom>
              <a:avLst/>
              <a:gdLst/>
              <a:ahLst/>
              <a:cxnLst/>
              <a:rect l="l" t="t" r="r" b="b"/>
              <a:pathLst>
                <a:path w="10134600" h="772160">
                  <a:moveTo>
                    <a:pt x="0" y="0"/>
                  </a:moveTo>
                  <a:lnTo>
                    <a:pt x="0" y="771906"/>
                  </a:lnTo>
                </a:path>
                <a:path w="10134600" h="772160">
                  <a:moveTo>
                    <a:pt x="10134600" y="0"/>
                  </a:moveTo>
                  <a:lnTo>
                    <a:pt x="10134600" y="77190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43BC7615-C6C9-BA3E-F2DC-2BD95AF59023}"/>
                </a:ext>
              </a:extLst>
            </p:cNvPr>
            <p:cNvSpPr/>
            <p:nvPr/>
          </p:nvSpPr>
          <p:spPr>
            <a:xfrm>
              <a:off x="1593850" y="51435"/>
              <a:ext cx="10147300" cy="12700"/>
            </a:xfrm>
            <a:custGeom>
              <a:avLst/>
              <a:gdLst/>
              <a:ahLst/>
              <a:cxnLst/>
              <a:rect l="l" t="t" r="r" b="b"/>
              <a:pathLst>
                <a:path w="10147300" h="12700">
                  <a:moveTo>
                    <a:pt x="0" y="12700"/>
                  </a:moveTo>
                  <a:lnTo>
                    <a:pt x="10147300" y="12700"/>
                  </a:lnTo>
                  <a:lnTo>
                    <a:pt x="1014730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ED3DD06A-0D9C-119E-3E75-FB2666C5E8B8}"/>
                </a:ext>
              </a:extLst>
            </p:cNvPr>
            <p:cNvSpPr/>
            <p:nvPr/>
          </p:nvSpPr>
          <p:spPr>
            <a:xfrm>
              <a:off x="1593850" y="816990"/>
              <a:ext cx="10147300" cy="0"/>
            </a:xfrm>
            <a:custGeom>
              <a:avLst/>
              <a:gdLst/>
              <a:ahLst/>
              <a:cxnLst/>
              <a:rect l="l" t="t" r="r" b="b"/>
              <a:pathLst>
                <a:path w="10147300">
                  <a:moveTo>
                    <a:pt x="0" y="0"/>
                  </a:moveTo>
                  <a:lnTo>
                    <a:pt x="10147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492153A0-4192-FC7D-3DF8-4E994391CB7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3127" y="200405"/>
              <a:ext cx="8503920" cy="231267"/>
            </a:xfrm>
            <a:prstGeom prst="rect">
              <a:avLst/>
            </a:prstGeom>
          </p:spPr>
        </p:pic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BEAD6939-7942-D385-5BAA-82C61FEFBCF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85057" y="505333"/>
              <a:ext cx="1073277" cy="184404"/>
            </a:xfrm>
            <a:prstGeom prst="rect">
              <a:avLst/>
            </a:prstGeom>
          </p:spPr>
        </p:pic>
        <p:pic>
          <p:nvPicPr>
            <p:cNvPr id="12" name="object 11">
              <a:extLst>
                <a:ext uri="{FF2B5EF4-FFF2-40B4-BE49-F238E27FC236}">
                  <a16:creationId xmlns:a16="http://schemas.microsoft.com/office/drawing/2014/main" id="{DCF7DF87-73F0-ABF9-7455-C9386B775C5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30978" y="505205"/>
              <a:ext cx="4427982" cy="184531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FF05C050-8C08-4444-2FE7-0499662653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229" y="82114"/>
            <a:ext cx="737765" cy="7377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16111" y="762935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Results and Analysis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274320" y="1720703"/>
            <a:ext cx="5135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The trained model's performance is analyzed based on evaluation metrics.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Comparisons are made between different algorithms to identify the best performer.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Insights from the results can guide future improvements in model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achieves ~99.3% accuracy on MNIST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ML models: ~94%–97%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boosts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object 4">
            <a:extLst>
              <a:ext uri="{FF2B5EF4-FFF2-40B4-BE49-F238E27FC236}">
                <a16:creationId xmlns:a16="http://schemas.microsoft.com/office/drawing/2014/main" id="{26D2BCEC-C9EC-444F-F7CD-E8BA2D037F78}"/>
              </a:ext>
            </a:extLst>
          </p:cNvPr>
          <p:cNvGrpSpPr/>
          <p:nvPr/>
        </p:nvGrpSpPr>
        <p:grpSpPr>
          <a:xfrm>
            <a:off x="1017413" y="110669"/>
            <a:ext cx="7610475" cy="579120"/>
            <a:chOff x="1593850" y="51435"/>
            <a:chExt cx="10147300" cy="772160"/>
          </a:xfrm>
        </p:grpSpPr>
        <p:sp>
          <p:nvSpPr>
            <p:cNvPr id="3" name="object 5">
              <a:extLst>
                <a:ext uri="{FF2B5EF4-FFF2-40B4-BE49-F238E27FC236}">
                  <a16:creationId xmlns:a16="http://schemas.microsoft.com/office/drawing/2014/main" id="{E7C3016B-8180-4797-EFA9-D516EDC57134}"/>
                </a:ext>
              </a:extLst>
            </p:cNvPr>
            <p:cNvSpPr/>
            <p:nvPr/>
          </p:nvSpPr>
          <p:spPr>
            <a:xfrm>
              <a:off x="1600200" y="57721"/>
              <a:ext cx="10134600" cy="759460"/>
            </a:xfrm>
            <a:custGeom>
              <a:avLst/>
              <a:gdLst/>
              <a:ahLst/>
              <a:cxnLst/>
              <a:rect l="l" t="t" r="r" b="b"/>
              <a:pathLst>
                <a:path w="10134600" h="759460">
                  <a:moveTo>
                    <a:pt x="10134600" y="0"/>
                  </a:moveTo>
                  <a:lnTo>
                    <a:pt x="0" y="0"/>
                  </a:lnTo>
                  <a:lnTo>
                    <a:pt x="0" y="759269"/>
                  </a:lnTo>
                  <a:lnTo>
                    <a:pt x="10134600" y="759269"/>
                  </a:lnTo>
                  <a:lnTo>
                    <a:pt x="1013460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976F6752-4255-8BC8-0608-1E7C86478E08}"/>
                </a:ext>
              </a:extLst>
            </p:cNvPr>
            <p:cNvSpPr/>
            <p:nvPr/>
          </p:nvSpPr>
          <p:spPr>
            <a:xfrm>
              <a:off x="1600200" y="51435"/>
              <a:ext cx="10134600" cy="772160"/>
            </a:xfrm>
            <a:custGeom>
              <a:avLst/>
              <a:gdLst/>
              <a:ahLst/>
              <a:cxnLst/>
              <a:rect l="l" t="t" r="r" b="b"/>
              <a:pathLst>
                <a:path w="10134600" h="772160">
                  <a:moveTo>
                    <a:pt x="0" y="0"/>
                  </a:moveTo>
                  <a:lnTo>
                    <a:pt x="0" y="771906"/>
                  </a:lnTo>
                </a:path>
                <a:path w="10134600" h="772160">
                  <a:moveTo>
                    <a:pt x="10134600" y="0"/>
                  </a:moveTo>
                  <a:lnTo>
                    <a:pt x="10134600" y="77190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2BA2D4B5-237D-E600-9857-C37AAF2C9FDB}"/>
                </a:ext>
              </a:extLst>
            </p:cNvPr>
            <p:cNvSpPr/>
            <p:nvPr/>
          </p:nvSpPr>
          <p:spPr>
            <a:xfrm>
              <a:off x="1593850" y="51435"/>
              <a:ext cx="10147300" cy="12700"/>
            </a:xfrm>
            <a:custGeom>
              <a:avLst/>
              <a:gdLst/>
              <a:ahLst/>
              <a:cxnLst/>
              <a:rect l="l" t="t" r="r" b="b"/>
              <a:pathLst>
                <a:path w="10147300" h="12700">
                  <a:moveTo>
                    <a:pt x="0" y="12700"/>
                  </a:moveTo>
                  <a:lnTo>
                    <a:pt x="10147300" y="12700"/>
                  </a:lnTo>
                  <a:lnTo>
                    <a:pt x="1014730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6AC896EF-F403-3E2F-0106-66C6884308CA}"/>
                </a:ext>
              </a:extLst>
            </p:cNvPr>
            <p:cNvSpPr/>
            <p:nvPr/>
          </p:nvSpPr>
          <p:spPr>
            <a:xfrm>
              <a:off x="1593850" y="816990"/>
              <a:ext cx="10147300" cy="0"/>
            </a:xfrm>
            <a:custGeom>
              <a:avLst/>
              <a:gdLst/>
              <a:ahLst/>
              <a:cxnLst/>
              <a:rect l="l" t="t" r="r" b="b"/>
              <a:pathLst>
                <a:path w="10147300">
                  <a:moveTo>
                    <a:pt x="0" y="0"/>
                  </a:moveTo>
                  <a:lnTo>
                    <a:pt x="10147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AB4CD468-F046-D67D-F4FF-D0F762F637C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3127" y="200405"/>
              <a:ext cx="8503920" cy="231267"/>
            </a:xfrm>
            <a:prstGeom prst="rect">
              <a:avLst/>
            </a:prstGeom>
          </p:spPr>
        </p:pic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5D335679-C7CB-9441-0B93-A2738CCDD59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85057" y="505333"/>
              <a:ext cx="1073277" cy="184404"/>
            </a:xfrm>
            <a:prstGeom prst="rect">
              <a:avLst/>
            </a:prstGeom>
          </p:spPr>
        </p:pic>
        <p:pic>
          <p:nvPicPr>
            <p:cNvPr id="12" name="object 11">
              <a:extLst>
                <a:ext uri="{FF2B5EF4-FFF2-40B4-BE49-F238E27FC236}">
                  <a16:creationId xmlns:a16="http://schemas.microsoft.com/office/drawing/2014/main" id="{1746945B-0794-99B3-713D-36E07085ADC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0978" y="505205"/>
              <a:ext cx="4427982" cy="184531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B58D2334-364A-C54D-60D1-51168D5717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229" y="82114"/>
            <a:ext cx="737765" cy="737765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C01655-584B-BB1F-9C17-BA83701F2BE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0695" t="21272" r="26333" b="10837"/>
          <a:stretch/>
        </p:blipFill>
        <p:spPr>
          <a:xfrm>
            <a:off x="5317491" y="684979"/>
            <a:ext cx="1996163" cy="1773923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C69657-6FA7-793F-819E-6B9CD49FF08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0268" t="23538" b="13450"/>
          <a:stretch/>
        </p:blipFill>
        <p:spPr>
          <a:xfrm>
            <a:off x="5317491" y="2228636"/>
            <a:ext cx="3252381" cy="1653174"/>
          </a:xfrm>
          <a:prstGeom prst="rect">
            <a:avLst/>
          </a:prstGeom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138F22-85DA-E0EB-7841-6E451E53024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1116" t="38392" r="2280" b="29858"/>
          <a:stretch/>
        </p:blipFill>
        <p:spPr>
          <a:xfrm>
            <a:off x="5748037" y="3965414"/>
            <a:ext cx="3252381" cy="8720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16111" y="817609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Challenges and Limitations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516110" y="1714500"/>
            <a:ext cx="838404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Challenges such as overfitting and underfitting can impact model performance.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Variability in handwriting styles can lead to misclassification of digits.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Addressing these limitations is crucial for enhancing recognition accuracy.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object 4">
            <a:extLst>
              <a:ext uri="{FF2B5EF4-FFF2-40B4-BE49-F238E27FC236}">
                <a16:creationId xmlns:a16="http://schemas.microsoft.com/office/drawing/2014/main" id="{12FB1B4C-70A3-02C9-E7C2-6FC02A071E94}"/>
              </a:ext>
            </a:extLst>
          </p:cNvPr>
          <p:cNvGrpSpPr/>
          <p:nvPr/>
        </p:nvGrpSpPr>
        <p:grpSpPr>
          <a:xfrm>
            <a:off x="1017413" y="110669"/>
            <a:ext cx="7610475" cy="579120"/>
            <a:chOff x="1593850" y="51435"/>
            <a:chExt cx="10147300" cy="772160"/>
          </a:xfrm>
        </p:grpSpPr>
        <p:sp>
          <p:nvSpPr>
            <p:cNvPr id="3" name="object 5">
              <a:extLst>
                <a:ext uri="{FF2B5EF4-FFF2-40B4-BE49-F238E27FC236}">
                  <a16:creationId xmlns:a16="http://schemas.microsoft.com/office/drawing/2014/main" id="{6A35E9B9-9371-0B0A-DBBA-1EF9166A7DE8}"/>
                </a:ext>
              </a:extLst>
            </p:cNvPr>
            <p:cNvSpPr/>
            <p:nvPr/>
          </p:nvSpPr>
          <p:spPr>
            <a:xfrm>
              <a:off x="1600200" y="57721"/>
              <a:ext cx="10134600" cy="759460"/>
            </a:xfrm>
            <a:custGeom>
              <a:avLst/>
              <a:gdLst/>
              <a:ahLst/>
              <a:cxnLst/>
              <a:rect l="l" t="t" r="r" b="b"/>
              <a:pathLst>
                <a:path w="10134600" h="759460">
                  <a:moveTo>
                    <a:pt x="10134600" y="0"/>
                  </a:moveTo>
                  <a:lnTo>
                    <a:pt x="0" y="0"/>
                  </a:lnTo>
                  <a:lnTo>
                    <a:pt x="0" y="759269"/>
                  </a:lnTo>
                  <a:lnTo>
                    <a:pt x="10134600" y="759269"/>
                  </a:lnTo>
                  <a:lnTo>
                    <a:pt x="1013460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0B46285A-A8A6-32BB-31E8-6B3A185125D8}"/>
                </a:ext>
              </a:extLst>
            </p:cNvPr>
            <p:cNvSpPr/>
            <p:nvPr/>
          </p:nvSpPr>
          <p:spPr>
            <a:xfrm>
              <a:off x="1600200" y="51435"/>
              <a:ext cx="10134600" cy="772160"/>
            </a:xfrm>
            <a:custGeom>
              <a:avLst/>
              <a:gdLst/>
              <a:ahLst/>
              <a:cxnLst/>
              <a:rect l="l" t="t" r="r" b="b"/>
              <a:pathLst>
                <a:path w="10134600" h="772160">
                  <a:moveTo>
                    <a:pt x="0" y="0"/>
                  </a:moveTo>
                  <a:lnTo>
                    <a:pt x="0" y="771906"/>
                  </a:lnTo>
                </a:path>
                <a:path w="10134600" h="772160">
                  <a:moveTo>
                    <a:pt x="10134600" y="0"/>
                  </a:moveTo>
                  <a:lnTo>
                    <a:pt x="10134600" y="77190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9DC57CD2-9291-F7E9-C8B3-8B09A03B1B56}"/>
                </a:ext>
              </a:extLst>
            </p:cNvPr>
            <p:cNvSpPr/>
            <p:nvPr/>
          </p:nvSpPr>
          <p:spPr>
            <a:xfrm>
              <a:off x="1593850" y="51435"/>
              <a:ext cx="10147300" cy="12700"/>
            </a:xfrm>
            <a:custGeom>
              <a:avLst/>
              <a:gdLst/>
              <a:ahLst/>
              <a:cxnLst/>
              <a:rect l="l" t="t" r="r" b="b"/>
              <a:pathLst>
                <a:path w="10147300" h="12700">
                  <a:moveTo>
                    <a:pt x="0" y="12700"/>
                  </a:moveTo>
                  <a:lnTo>
                    <a:pt x="10147300" y="12700"/>
                  </a:lnTo>
                  <a:lnTo>
                    <a:pt x="1014730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1E90C55F-2C20-D901-C1DC-D04F525FA400}"/>
                </a:ext>
              </a:extLst>
            </p:cNvPr>
            <p:cNvSpPr/>
            <p:nvPr/>
          </p:nvSpPr>
          <p:spPr>
            <a:xfrm>
              <a:off x="1593850" y="816990"/>
              <a:ext cx="10147300" cy="0"/>
            </a:xfrm>
            <a:custGeom>
              <a:avLst/>
              <a:gdLst/>
              <a:ahLst/>
              <a:cxnLst/>
              <a:rect l="l" t="t" r="r" b="b"/>
              <a:pathLst>
                <a:path w="10147300">
                  <a:moveTo>
                    <a:pt x="0" y="0"/>
                  </a:moveTo>
                  <a:lnTo>
                    <a:pt x="10147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17C96FE6-94BA-CC9F-BC92-15A259ADA84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3127" y="200405"/>
              <a:ext cx="8503920" cy="231267"/>
            </a:xfrm>
            <a:prstGeom prst="rect">
              <a:avLst/>
            </a:prstGeom>
          </p:spPr>
        </p:pic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D243F9E0-6B69-AAF8-2D71-1582CC8743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85057" y="505333"/>
              <a:ext cx="1073277" cy="184404"/>
            </a:xfrm>
            <a:prstGeom prst="rect">
              <a:avLst/>
            </a:prstGeom>
          </p:spPr>
        </p:pic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72A70F45-E5E3-81BB-79D7-16DDBBFA602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0978" y="505205"/>
              <a:ext cx="4427982" cy="184531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224CFCA9-90AC-BC98-5B29-BCF5A10C85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229" y="82114"/>
            <a:ext cx="737765" cy="7377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user-images.githubusercontent.com/39909903/91180489-9fe39400-e69c-11ea-9968-9adf6741d59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250" y="1905000"/>
            <a:ext cx="3056709" cy="23774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4117" y="7653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Conclusion and Future Work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607820"/>
            <a:ext cx="531005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The project successfully demonstrates the use of machine learning for digit recognition.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Future enhancements could include using deeper models and more extensive datasets.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Continued research will contribute to more accurate and robust handwriting recognition systems.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4">
            <a:extLst>
              <a:ext uri="{FF2B5EF4-FFF2-40B4-BE49-F238E27FC236}">
                <a16:creationId xmlns:a16="http://schemas.microsoft.com/office/drawing/2014/main" id="{FE3284B8-DB1D-54D2-5F64-6E8538D670DD}"/>
              </a:ext>
            </a:extLst>
          </p:cNvPr>
          <p:cNvGrpSpPr/>
          <p:nvPr/>
        </p:nvGrpSpPr>
        <p:grpSpPr>
          <a:xfrm>
            <a:off x="1017413" y="110669"/>
            <a:ext cx="7610475" cy="579120"/>
            <a:chOff x="1593850" y="51435"/>
            <a:chExt cx="10147300" cy="77216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A36EC9B3-FDE0-EDC8-C603-21B8748F9545}"/>
                </a:ext>
              </a:extLst>
            </p:cNvPr>
            <p:cNvSpPr/>
            <p:nvPr/>
          </p:nvSpPr>
          <p:spPr>
            <a:xfrm>
              <a:off x="1600200" y="57721"/>
              <a:ext cx="10134600" cy="759460"/>
            </a:xfrm>
            <a:custGeom>
              <a:avLst/>
              <a:gdLst/>
              <a:ahLst/>
              <a:cxnLst/>
              <a:rect l="l" t="t" r="r" b="b"/>
              <a:pathLst>
                <a:path w="10134600" h="759460">
                  <a:moveTo>
                    <a:pt x="10134600" y="0"/>
                  </a:moveTo>
                  <a:lnTo>
                    <a:pt x="0" y="0"/>
                  </a:lnTo>
                  <a:lnTo>
                    <a:pt x="0" y="759269"/>
                  </a:lnTo>
                  <a:lnTo>
                    <a:pt x="10134600" y="759269"/>
                  </a:lnTo>
                  <a:lnTo>
                    <a:pt x="1013460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A8058ED8-8FDB-FD8A-DE75-C5E08DEB5E0A}"/>
                </a:ext>
              </a:extLst>
            </p:cNvPr>
            <p:cNvSpPr/>
            <p:nvPr/>
          </p:nvSpPr>
          <p:spPr>
            <a:xfrm>
              <a:off x="1600200" y="51435"/>
              <a:ext cx="10134600" cy="772160"/>
            </a:xfrm>
            <a:custGeom>
              <a:avLst/>
              <a:gdLst/>
              <a:ahLst/>
              <a:cxnLst/>
              <a:rect l="l" t="t" r="r" b="b"/>
              <a:pathLst>
                <a:path w="10134600" h="772160">
                  <a:moveTo>
                    <a:pt x="0" y="0"/>
                  </a:moveTo>
                  <a:lnTo>
                    <a:pt x="0" y="771906"/>
                  </a:lnTo>
                </a:path>
                <a:path w="10134600" h="772160">
                  <a:moveTo>
                    <a:pt x="10134600" y="0"/>
                  </a:moveTo>
                  <a:lnTo>
                    <a:pt x="10134600" y="77190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03DF08B-F430-8A4D-1A49-1507FB40D840}"/>
                </a:ext>
              </a:extLst>
            </p:cNvPr>
            <p:cNvSpPr/>
            <p:nvPr/>
          </p:nvSpPr>
          <p:spPr>
            <a:xfrm>
              <a:off x="1593850" y="51435"/>
              <a:ext cx="10147300" cy="12700"/>
            </a:xfrm>
            <a:custGeom>
              <a:avLst/>
              <a:gdLst/>
              <a:ahLst/>
              <a:cxnLst/>
              <a:rect l="l" t="t" r="r" b="b"/>
              <a:pathLst>
                <a:path w="10147300" h="12700">
                  <a:moveTo>
                    <a:pt x="0" y="12700"/>
                  </a:moveTo>
                  <a:lnTo>
                    <a:pt x="10147300" y="12700"/>
                  </a:lnTo>
                  <a:lnTo>
                    <a:pt x="1014730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AF5241F6-13F1-2F6E-E3AA-04C1A9EE305B}"/>
                </a:ext>
              </a:extLst>
            </p:cNvPr>
            <p:cNvSpPr/>
            <p:nvPr/>
          </p:nvSpPr>
          <p:spPr>
            <a:xfrm>
              <a:off x="1593850" y="816990"/>
              <a:ext cx="10147300" cy="0"/>
            </a:xfrm>
            <a:custGeom>
              <a:avLst/>
              <a:gdLst/>
              <a:ahLst/>
              <a:cxnLst/>
              <a:rect l="l" t="t" r="r" b="b"/>
              <a:pathLst>
                <a:path w="10147300">
                  <a:moveTo>
                    <a:pt x="0" y="0"/>
                  </a:moveTo>
                  <a:lnTo>
                    <a:pt x="10147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>
                <a:solidFill>
                  <a:prstClr val="black"/>
                </a:solidFill>
              </a:endParaRPr>
            </a:p>
          </p:txBody>
        </p:sp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65321621-1AC1-0585-1440-C828A5D2262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3127" y="200405"/>
              <a:ext cx="8503920" cy="231267"/>
            </a:xfrm>
            <a:prstGeom prst="rect">
              <a:avLst/>
            </a:prstGeom>
          </p:spPr>
        </p:pic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286E9A07-19DA-D1C6-B311-78BDEC79C02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85057" y="505333"/>
              <a:ext cx="1073277" cy="184404"/>
            </a:xfrm>
            <a:prstGeom prst="rect">
              <a:avLst/>
            </a:prstGeom>
          </p:spPr>
        </p:pic>
        <p:pic>
          <p:nvPicPr>
            <p:cNvPr id="12" name="object 11">
              <a:extLst>
                <a:ext uri="{FF2B5EF4-FFF2-40B4-BE49-F238E27FC236}">
                  <a16:creationId xmlns:a16="http://schemas.microsoft.com/office/drawing/2014/main" id="{FE9A6693-6180-D5FF-9DDA-D9C00E67945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30978" y="505205"/>
              <a:ext cx="4427982" cy="184531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DDB21981-AEDE-F67C-28F5-64EB18AE40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229" y="82114"/>
            <a:ext cx="737765" cy="7377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597</Words>
  <Application>Microsoft Office PowerPoint</Application>
  <PresentationFormat>On-screen Show (16:9)</PresentationFormat>
  <Paragraphs>94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DIGITS PREDICTING HANDWRITEN PREDICTION USING ML THIS MY ML LAB PROJECT SO I NEED A PPT</dc:title>
  <dc:subject>DIGITS PREDICTING HANDWRITEN PREDICTION USING ML THIS MY ML LAB PROJECT SO I NEED A PPT</dc:subject>
  <dc:creator>SlideMake.com</dc:creator>
  <cp:lastModifiedBy>nikhil reddy</cp:lastModifiedBy>
  <cp:revision>4</cp:revision>
  <dcterms:created xsi:type="dcterms:W3CDTF">2025-05-13T16:04:12Z</dcterms:created>
  <dcterms:modified xsi:type="dcterms:W3CDTF">2025-05-13T17:03:13Z</dcterms:modified>
</cp:coreProperties>
</file>